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A24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A2440"/>
                </a:solidFill>
                <a:latin typeface="Calibri"/>
              </a:rPr>
              <a:t>Revenue path ($ thousands) — every subscriber priced at Plus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FF83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4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83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3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3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1D1E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8.7</c:v>
                </c:pt>
                <c:pt idx="1">
                  <c:v>87</c:v>
                </c:pt>
                <c:pt idx="2">
                  <c:v>434</c:v>
                </c:pt>
                <c:pt idx="3">
                  <c:v>1530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A24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4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6E1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Vinboo is a working, deployed product built with no outside capital. This deck covers what it is, what is already built, the market it points at, and what the next phase of engineering buys.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meeting-time figure is derived, not sourced: headcounts are from BLS, the three-meetings and five-minutes assumptions are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is shipped and working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mechanism that makes the privacy claim structural rather than a policy promise, and it is what makes unlimited-screens pricing affordable.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lets a wedding reception keep playing after the couple put their phones away, and a shop window keep playing after the manager goes home — without the platform ever holding the pictures.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business-model moat. It is more durable than any patent we could realistically defend on the relay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candid about the "not yet" column is deliberate. Every item there is on the roadmap slide with a cost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Headcounts are sourced. The 40% deck-carrying rate and the penetration assumptions are ours and are stated as such.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strategic hinge of the whole deck. It sets up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Teams and the cable as the real competition is more credible than a feature grid where we win every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1 and 2 are the consumer model; Year 5 assumes the business tier carries the revenue. Compute stays near flat because the relay is I/O 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is by dependency. Fidelity is the commercial gate; encryption is the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never reaches the server. The viewer secret is split by HKDF: Vinboo receives the half that proves you know it, never the half that opens the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Investors with security backgrounds will ask about the JavaScript delivery problem. Answering it before they raise it is worth more than the claim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Leading with the Present Live evidence is deliberate: a sophisticated investor will find it anyway.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distinction between funding an idea and funding the gap to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Full-resolution source: docs/architecture.svg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Full-resolution source: docs/architecture-e2ee.svg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Volumes-SuperDrive-DEV-SPACE-Slideshow/f18f3f9b-0f39-440a-8984-8ec7b618ab34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3931920" cy="1298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971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600" b="1" dirty="0">
                <a:solidFill>
                  <a:srgbClr val="F4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slideshow, on every screen in the room —</a:t>
            </a:r>
            <a:endParaRPr lang="en-US" sz="26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2600" b="1" dirty="0">
                <a:solidFill>
                  <a:srgbClr val="F4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from your own device, stored nowhere.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66928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  ·  August 2026  ·  vinboo.com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66928" y="5257800"/>
            <a:ext cx="219456" cy="219456"/>
          </a:xfrm>
          <a:prstGeom prst="ellipse">
            <a:avLst/>
          </a:prstGeom>
          <a:solidFill>
            <a:srgbClr val="FF8382"/>
          </a:solidFill>
          <a:ln w="12700">
            <a:solidFill>
              <a:srgbClr val="FF838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0976" y="5257800"/>
            <a:ext cx="219456" cy="219456"/>
          </a:xfrm>
          <a:prstGeom prst="ellipse">
            <a:avLst/>
          </a:prstGeom>
          <a:solidFill>
            <a:srgbClr val="51D1E3"/>
          </a:solidFill>
          <a:ln w="12700">
            <a:solidFill>
              <a:srgbClr val="51D1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35024" y="5257800"/>
            <a:ext cx="219456" cy="219456"/>
          </a:xfrm>
          <a:prstGeom prst="ellipse">
            <a:avLst/>
          </a:prstGeom>
          <a:solidFill>
            <a:srgbClr val="FDCA5C"/>
          </a:solidFill>
          <a:ln w="12700">
            <a:solidFill>
              <a:srgbClr val="FDCA5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a deck in someone else’s room is still bad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sales representative walks into a client’s conference room. Three things can happen, and all of them are poor.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23488" cy="2834640"/>
          </a:xfrm>
          <a:prstGeom prst="roundRect">
            <a:avLst>
              <a:gd name="adj" fmla="val 3871"/>
            </a:avLst>
          </a:prstGeom>
          <a:solidFill>
            <a:srgbClr val="FFEDEC"/>
          </a:solidFill>
          <a:ln w="12700">
            <a:solidFill>
              <a:srgbClr val="FFEDE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01952"/>
            <a:ext cx="384048" cy="384048"/>
          </a:xfrm>
          <a:prstGeom prst="ellipse">
            <a:avLst/>
          </a:prstGeom>
          <a:solidFill>
            <a:srgbClr val="C8362F"/>
          </a:solidFill>
          <a:ln w="12700">
            <a:solidFill>
              <a:srgbClr val="C83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414016"/>
            <a:ext cx="2974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hand over the file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999232"/>
            <a:ext cx="2974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Emailed ahead or left on a USB stick. It now lives on the client’s machine and can be forwarded to a competitor. The presenter has no way to take it back.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9016" y="1627632"/>
            <a:ext cx="3523488" cy="2834640"/>
          </a:xfrm>
          <a:prstGeom prst="roundRect">
            <a:avLst>
              <a:gd name="adj" fmla="val 3871"/>
            </a:avLst>
          </a:prstGeom>
          <a:solidFill>
            <a:srgbClr val="E4F8FB"/>
          </a:solidFill>
          <a:ln w="12700">
            <a:solidFill>
              <a:srgbClr val="E4F8FB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3336" y="1901952"/>
            <a:ext cx="384048" cy="384048"/>
          </a:xfrm>
          <a:prstGeom prst="ellipse">
            <a:avLst/>
          </a:prstGeom>
          <a:solidFill>
            <a:srgbClr val="1F7884"/>
          </a:solidFill>
          <a:ln w="12700">
            <a:solidFill>
              <a:srgbClr val="1F78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3336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3336" y="2414016"/>
            <a:ext cx="2974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fight the room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3336" y="2999232"/>
            <a:ext cx="2974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adaptor, a dead HDMI port, guest wifi, a screen-sharing tool the client’s network blocks. Minutes of a short meeting go to cabling.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71104" y="1627632"/>
            <a:ext cx="3523488" cy="2834640"/>
          </a:xfrm>
          <a:prstGeom prst="roundRect">
            <a:avLst>
              <a:gd name="adj" fmla="val 3871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45424" y="1901952"/>
            <a:ext cx="384048" cy="384048"/>
          </a:xfrm>
          <a:prstGeom prst="ellipse">
            <a:avLst/>
          </a:prstGeom>
          <a:solidFill>
            <a:srgbClr val="936A10"/>
          </a:solidFill>
          <a:ln w="12700">
            <a:solidFill>
              <a:srgbClr val="936A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5424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45424" y="2414016"/>
            <a:ext cx="2974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3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crowds one laptop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45424" y="2999232"/>
            <a:ext cx="2974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room with three screens in it, and the deck is on a 13-inch display being turned around the table.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5120640"/>
            <a:ext cx="11027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cost, at three client meetings a week and five minutes lost to connecting: roughly 7.7 million hours a year across 641,000 US representatives — about $385M of selling time.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Vinboo 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slideshow broadcaster. The presenter opens a page; every screen in the room shows the same slide.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6235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8836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presenter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6968" y="237744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vinboo.com, choose photos or a PowerPoint file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uploads — the files stay on the device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six-character code and a temporary password appear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the show and the laptop can close entirely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19088" y="1627632"/>
            <a:ext cx="5623560" cy="2514600"/>
          </a:xfrm>
          <a:prstGeom prst="roundRect">
            <a:avLst>
              <a:gd name="adj" fmla="val 4364"/>
            </a:avLst>
          </a:prstGeom>
          <a:solidFill>
            <a:srgbClr val="E4F8FB"/>
          </a:solidFill>
          <a:ln w="12700">
            <a:solidFill>
              <a:srgbClr val="E4F8FB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39128" y="18836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 watching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39128" y="237744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QR code, or type the code into any browser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no app, no store approval on a television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Televisions, laptops and phones, all at once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cable, no dongle, no shared network required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54406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 at vinboo.com. Photos, PowerPoint decks, unlimited screens.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comparable service uploads your files and distributes them. Vinboo makes the presenter’s browser the origin and the server a blind relay.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585466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83664"/>
            <a:ext cx="384048" cy="384048"/>
          </a:xfrm>
          <a:prstGeom prst="ellipse">
            <a:avLst/>
          </a:prstGeom>
          <a:solidFill>
            <a:srgbClr val="1F7884"/>
          </a:solidFill>
          <a:ln w="12700">
            <a:solidFill>
              <a:srgbClr val="1F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207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 asks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98064"/>
            <a:ext cx="20734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television requests slide four.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0994" y="1627632"/>
            <a:ext cx="2585466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7026" y="1883664"/>
            <a:ext cx="384048" cy="384048"/>
          </a:xfrm>
          <a:prstGeom prst="ellipse">
            <a:avLst/>
          </a:prstGeom>
          <a:solidFill>
            <a:srgbClr val="936A10"/>
          </a:solidFill>
          <a:ln w="12700">
            <a:solidFill>
              <a:srgbClr val="936A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7026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7026" y="2377440"/>
            <a:ext cx="207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parks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7026" y="2798064"/>
            <a:ext cx="20734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answering, it holds the request open and hands the job to the presenter’s browser.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5060" y="1627632"/>
            <a:ext cx="2585466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51092" y="1883664"/>
            <a:ext cx="384048" cy="384048"/>
          </a:xfrm>
          <a:prstGeom prst="ellipse">
            <a:avLst/>
          </a:prstGeom>
          <a:solidFill>
            <a:srgbClr val="C8362F"/>
          </a:solidFill>
          <a:ln w="12700">
            <a:solidFill>
              <a:srgbClr val="C836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1092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51092" y="2377440"/>
            <a:ext cx="207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answers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51092" y="2798064"/>
            <a:ext cx="20734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file off the device and returns the bytes.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9126" y="1627632"/>
            <a:ext cx="2585466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65158" y="1883664"/>
            <a:ext cx="384048" cy="384048"/>
          </a:xfrm>
          <a:prstGeom prst="ellipse">
            <a:avLst/>
          </a:prstGeom>
          <a:solidFill>
            <a:srgbClr val="C8362F"/>
          </a:solidFill>
          <a:ln w="12700">
            <a:solidFill>
              <a:srgbClr val="C836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65158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65158" y="2377440"/>
            <a:ext cx="207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reply, many screens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65158" y="2798064"/>
            <a:ext cx="20734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fanned out to everyone waiting on that slide, then forgotten.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315968"/>
            <a:ext cx="11027664" cy="1417320"/>
          </a:xfrm>
          <a:prstGeom prst="roundRect">
            <a:avLst>
              <a:gd name="adj" fmla="val 7742"/>
            </a:avLst>
          </a:prstGeom>
          <a:solidFill>
            <a:srgbClr val="FFEDEC"/>
          </a:solidFill>
          <a:ln w="12700">
            <a:solidFill>
              <a:srgbClr val="FFEDE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2688" y="4526280"/>
            <a:ext cx="10296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screens on the same slide cost the presenter one upload.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32688" y="4956048"/>
            <a:ext cx="10296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bytes exist in server memory only while in flight. It runs over ordinary HTTPS long-polling — no WebSockets, no peer-to-peer — so it passes through the corporate proxies and hotel networks that block those protocols.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show outlives the tab that started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AND RUNNING TODAY — hand-off mode. Every screen copies the whole show as it plays, so the presenter can close the laptop and leave the room.</a:t>
            </a:r>
            <a:endParaRPr lang="en-US" sz="1250" dirty="0"/>
          </a:p>
        </p:txBody>
      </p:sp>
      <p:pic>
        <p:nvPicPr>
          <p:cNvPr id="4" name="Image 0" descr="/private/tmp/claude-501/-Volumes-SuperDrive-DEV-SPACE-Slideshow/f18f3f9b-0f39-440a-8984-8ec7b618ab34/scratchpad/deck/arch-hand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11027664" cy="28131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4617720"/>
            <a:ext cx="11027664" cy="1234440"/>
          </a:xfrm>
          <a:prstGeom prst="roundRect">
            <a:avLst>
              <a:gd name="adj" fmla="val 8889"/>
            </a:avLst>
          </a:prstGeom>
          <a:solidFill>
            <a:srgbClr val="EFE9FB"/>
          </a:solidFill>
          <a:ln w="12700">
            <a:solidFill>
              <a:srgbClr val="EFE9FB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50976" y="47914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limit, stated plainly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50976" y="5212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holding a complete copy has to stay open. When none is, a late arrival is told so rather than left waiting for a photo that will never come. The show expires after the 1-to-48 hours chosen at the start, extendable once — nothing here is long-term storage, by design.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architecture buys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consequences fall out of the design rather than being features bolted 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23488" cy="2331720"/>
          </a:xfrm>
          <a:prstGeom prst="roundRect">
            <a:avLst>
              <a:gd name="adj" fmla="val 4706"/>
            </a:avLst>
          </a:prstGeom>
          <a:solidFill>
            <a:srgbClr val="FFEDEC"/>
          </a:solidFill>
          <a:ln w="12700">
            <a:solidFill>
              <a:srgbClr val="FFEDE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901952"/>
            <a:ext cx="2883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86968" y="2688336"/>
            <a:ext cx="2883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stored. The relay keeps no copy, so a confidential deck never lands on a company server or a client’s machine. A competitor cannot match this without rebuilding.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9016" y="1627632"/>
            <a:ext cx="3523488" cy="2331720"/>
          </a:xfrm>
          <a:prstGeom prst="roundRect">
            <a:avLst>
              <a:gd name="adj" fmla="val 4706"/>
            </a:avLst>
          </a:prstGeom>
          <a:solidFill>
            <a:srgbClr val="E4F8FB"/>
          </a:solidFill>
          <a:ln w="12700">
            <a:solidFill>
              <a:srgbClr val="E4F8FB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39056" y="1901952"/>
            <a:ext cx="2883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39056" y="2688336"/>
            <a:ext cx="2883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for one price. Marginal cost for the eighth television is near zero, because one upload is fanned out. Pixo bills per screen and caps at six.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71104" y="1627632"/>
            <a:ext cx="3523488" cy="2331720"/>
          </a:xfrm>
          <a:prstGeom prst="roundRect">
            <a:avLst>
              <a:gd name="adj" fmla="val 4706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91144" y="1901952"/>
            <a:ext cx="2883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3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91144" y="2688336"/>
            <a:ext cx="2883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anywhere. Viewers use a browser they already have — no install, no account, no app-store approval on a smart television.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754880"/>
            <a:ext cx="1102766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" y="4956048"/>
            <a:ext cx="10296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inverts the cost structure. A competitor built on store-and-distribute pays per screen served, so it must bill per screen. Vinboo’s bandwidth grows with shows, not with audience — which is why unlimited screens is a price they cannot follow.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already built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 and not a design document. A deployed product, in daily working order, with no outside capital in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234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828800"/>
            <a:ext cx="2883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86968" y="2615184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slides in 32 real corporate decks render with nothing missing — in the browser, nothing uploaded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9016" y="1627632"/>
            <a:ext cx="35234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39056" y="1828800"/>
            <a:ext cx="2883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639056" y="2615184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 across seven suites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71104" y="1627632"/>
            <a:ext cx="35234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91144" y="1828800"/>
            <a:ext cx="2883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93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91144" y="2615184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outside capital raised to date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456432"/>
            <a:ext cx="1102766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" y="3639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and working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2688" y="4114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relay: photos and PowerPoint to unlimited screens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 mode — the show survives the presenter leaving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PowerPoint, SmartArt, charts and Visio drawn in the browser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fidelity measured on 32 real decks, not assumed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joining, accounts, multiple concurrent shows, feedback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0528" y="3639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built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10528" y="4114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 and subscription management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WMF metafiles and a few objects with no preview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(the Private tier)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scale — one process holds all state today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bottom-up from headcounts, because “the presentation software market is worth $X billion” says nothing about whether anyone pays $15 for this.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27664" cy="1298448"/>
          </a:xfrm>
          <a:prstGeom prst="roundRect">
            <a:avLst>
              <a:gd name="adj" fmla="val 8451"/>
            </a:avLst>
          </a:prstGeom>
          <a:solidFill>
            <a:srgbClr val="FFEDEC"/>
          </a:solidFill>
          <a:ln w="12700">
            <a:solidFill>
              <a:srgbClr val="FFEDE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presenters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market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87368" y="18288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1.6M US wholesale, manufacturing and technical sales representatives. Assuming 40% carry a deck into client meetings: ~641,000 people.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08008" y="18105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208008" y="23408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market at $180/year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127248"/>
            <a:ext cx="11027664" cy="1298448"/>
          </a:xfrm>
          <a:prstGeom prst="roundRect">
            <a:avLst>
              <a:gd name="adj" fmla="val 8451"/>
            </a:avLst>
          </a:prstGeom>
          <a:solidFill>
            <a:srgbClr val="E4F8FB"/>
          </a:solidFill>
          <a:ln w="12700">
            <a:solidFill>
              <a:srgbClr val="E4F8FB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6968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vendors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36941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through suppliers, not couples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87368" y="3328416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2.5M US weddings a year. A DJ works forty weddings; a couple works one — so a few thousand vendor businesses reach the whole volume.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08008" y="33101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F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$475k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08008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at 1% attach, $19 an event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626864"/>
            <a:ext cx="11027664" cy="1298448"/>
          </a:xfrm>
          <a:prstGeom prst="roundRect">
            <a:avLst>
              <a:gd name="adj" fmla="val 8451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4809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3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" y="5193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audience, weakest economics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87368" y="482803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Ad-funded free tier. It is the funnel and the advertising floor rather than the revenue.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08008" y="48097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93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$434k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08008" y="534009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at 250,000 monthly presenters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decides the strategy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were built. One of them needs 39 times fewer people to make more money.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FFEDEC"/>
          </a:solidFill>
          <a:ln w="12700">
            <a:solidFill>
              <a:srgbClr val="FFEDE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8653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presenters at 1%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3042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6,413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32688" y="3090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10128" y="230428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$1.15M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10128" y="3090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3383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Mentimeter’s customer count, in an adjacent category doing $38M.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0488" y="1627632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56248" y="18653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presenters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6248" y="23042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556248" y="3090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33688" y="230428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$434k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933688" y="3090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56248" y="3383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all the bandwidth that 500,000 shows a month brings with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617720"/>
            <a:ext cx="11027664" cy="1234440"/>
          </a:xfrm>
          <a:prstGeom prst="roundRect">
            <a:avLst>
              <a:gd name="adj" fmla="val 8889"/>
            </a:avLst>
          </a:prstGeom>
          <a:solidFill>
            <a:srgbClr val="12101C"/>
          </a:solidFill>
          <a:ln w="12700">
            <a:solidFill>
              <a:srgbClr val="12101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8408" y="47914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39× fewer people. 2.7× the revenue.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78408" y="526694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use case the landing page leads with is commercially the weakest of the three. The product should point at the business presenter — and that segment is gated behind one engineering problem.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competition, and the real incumbent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paid products are not what we mostly lose to.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2286000"/>
                <a:gridCol w="3621024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falls short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 photos to televisions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$1.49 per screen /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Bills per screen, caps at three or six; stores your photos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Mentimeter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onto the audience’s phones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$12–25 per presenter /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Uploads your deck; built for polling, not for a room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mirroring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$12.50 /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Uploads; no hand-off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PowerPoint Present 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follows along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Bundled with Office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Retired by Microsoft for low 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617720"/>
            <a:ext cx="11027664" cy="1280160"/>
          </a:xfrm>
          <a:prstGeom prst="roundRect">
            <a:avLst>
              <a:gd name="adj" fmla="val 8571"/>
            </a:avLst>
          </a:prstGeom>
          <a:solidFill>
            <a:srgbClr val="E4F8FB"/>
          </a:solidFill>
          <a:ln w="12700">
            <a:solidFill>
              <a:srgbClr val="E4F8FB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50976" y="479145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displace: an HDMI cable, an emailed PDF, and Teams.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50976" y="5212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arrives with a bag of adaptors or emails the deck ahead. Those, not the paid products, are the incumbents — and Microsoft retiring Present Live is evidence that “the audience follows along” is the wrong pitch. The durable one is: your deck never lands on their machine.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makes money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are free. Sharing a PowerPoint is the business tier — and anyone can open and play their own deck first, to see how it renders before paying.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059229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810512"/>
            <a:ext cx="162031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" y="2157984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supported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2487168"/>
            <a:ext cx="162031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to every screen. Open and play a deck locally — sharing one is Pro.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09037" y="1627632"/>
            <a:ext cx="2059229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28493" y="1810512"/>
            <a:ext cx="162031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28493" y="2157984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 / year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28493" y="2487168"/>
            <a:ext cx="162031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no ads, and a show that survives everyone going offline.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51146" y="1627632"/>
            <a:ext cx="2059229" cy="1965960"/>
          </a:xfrm>
          <a:prstGeom prst="roundRect">
            <a:avLst>
              <a:gd name="adj" fmla="val 5581"/>
            </a:avLst>
          </a:prstGeom>
          <a:solidFill>
            <a:srgbClr val="FFEDEC"/>
          </a:solidFill>
          <a:ln w="12700">
            <a:solidFill>
              <a:srgbClr val="FFEDE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70602" y="1810512"/>
            <a:ext cx="162031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0602" y="2157984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 / year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70602" y="2487168"/>
            <a:ext cx="162031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 PowerPoint deck. Plus a saved library, presenter notes and branding.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3254" y="1627632"/>
            <a:ext cx="2059229" cy="1965960"/>
          </a:xfrm>
          <a:prstGeom prst="roundRect">
            <a:avLst>
              <a:gd name="adj" fmla="val 5581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12710" y="1810512"/>
            <a:ext cx="162031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12710" y="2157984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 / event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12710" y="2487168"/>
            <a:ext cx="162031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pass sold through wedding and event vendors.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35363" y="1627632"/>
            <a:ext cx="2059229" cy="1965960"/>
          </a:xfrm>
          <a:prstGeom prst="roundRect">
            <a:avLst>
              <a:gd name="adj" fmla="val 5581"/>
            </a:avLst>
          </a:prstGeom>
          <a:solidFill>
            <a:srgbClr val="E4F8FB"/>
          </a:solidFill>
          <a:ln w="12700">
            <a:solidFill>
              <a:srgbClr val="E4F8FB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54819" y="1810512"/>
            <a:ext cx="162031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54819" y="2157984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54819" y="2487168"/>
            <a:ext cx="162031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encryption, added to Plus or Pro. Designed, not yet built.</a:t>
            </a:r>
            <a:endParaRPr lang="en-US" sz="10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66928" y="3867912"/>
          <a:ext cx="6583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7424928" y="3867912"/>
            <a:ext cx="41605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744968" y="4078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margin holds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744968" y="450799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7744968" y="5294376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at Year 2 and above. The relay is I/O-bound long-polling, not CPU-bound: what matters is open connections, not volume.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next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these is already done. Of what is left, two are prerequisites to the adoption curve and one is the moat.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585466" cy="2788920"/>
          </a:xfrm>
          <a:prstGeom prst="roundRect">
            <a:avLst>
              <a:gd name="adj" fmla="val 4244"/>
            </a:avLst>
          </a:prstGeom>
          <a:solidFill>
            <a:srgbClr val="1C1830"/>
          </a:solidFill>
          <a:ln w="12700">
            <a:solidFill>
              <a:srgbClr val="2E2748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01952"/>
            <a:ext cx="384048" cy="384048"/>
          </a:xfrm>
          <a:prstGeom prst="ellipse">
            <a:avLst/>
          </a:prstGeom>
          <a:solidFill>
            <a:srgbClr val="51D1E3"/>
          </a:solidFill>
          <a:ln w="12700">
            <a:solidFill>
              <a:srgbClr val="51D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432304"/>
            <a:ext cx="20368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its own deploys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108960"/>
            <a:ext cx="20368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the session record so a restart stops ending every live show. Days of work.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0994" y="1627632"/>
            <a:ext cx="2585466" cy="2788920"/>
          </a:xfrm>
          <a:prstGeom prst="roundRect">
            <a:avLst>
              <a:gd name="adj" fmla="val 4244"/>
            </a:avLst>
          </a:prstGeom>
          <a:solidFill>
            <a:srgbClr val="1C1830"/>
          </a:solidFill>
          <a:ln w="12700">
            <a:solidFill>
              <a:srgbClr val="2E2748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5314" y="1901952"/>
            <a:ext cx="384048" cy="384048"/>
          </a:xfrm>
          <a:prstGeom prst="ellipse">
            <a:avLst/>
          </a:prstGeom>
          <a:solidFill>
            <a:srgbClr val="51D1E3"/>
          </a:solidFill>
          <a:ln w="12700">
            <a:solidFill>
              <a:srgbClr val="51D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5314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5314" y="2432304"/>
            <a:ext cx="20368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past one machine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5314" y="3108960"/>
            <a:ext cx="20368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on the show code so requests for a show always meet in one process. Removes a hard 200-show ceiling.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5060" y="1627632"/>
            <a:ext cx="2585466" cy="2788920"/>
          </a:xfrm>
          <a:prstGeom prst="roundRect">
            <a:avLst>
              <a:gd name="adj" fmla="val 4244"/>
            </a:avLst>
          </a:prstGeom>
          <a:solidFill>
            <a:srgbClr val="1C1830"/>
          </a:solidFill>
          <a:ln w="12700">
            <a:solidFill>
              <a:srgbClr val="2E2748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69380" y="1901952"/>
            <a:ext cx="384048" cy="384048"/>
          </a:xfrm>
          <a:prstGeom prst="ellipse">
            <a:avLst/>
          </a:prstGeom>
          <a:solidFill>
            <a:srgbClr val="FDCA5C"/>
          </a:solidFill>
          <a:ln w="12700">
            <a:solidFill>
              <a:srgbClr val="FDC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938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69380" y="2432304"/>
            <a:ext cx="20368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fidelity — done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9380" y="3108960"/>
            <a:ext cx="20368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at 98% of slides across 32 real corporate decks, in the browser, with nothing uploaded. This was the gate on the business tier.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9126" y="1627632"/>
            <a:ext cx="2585466" cy="2788920"/>
          </a:xfrm>
          <a:prstGeom prst="roundRect">
            <a:avLst>
              <a:gd name="adj" fmla="val 4244"/>
            </a:avLst>
          </a:prstGeom>
          <a:solidFill>
            <a:srgbClr val="1C1830"/>
          </a:solidFill>
          <a:ln w="12700">
            <a:solidFill>
              <a:srgbClr val="2E2748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3446" y="1901952"/>
            <a:ext cx="384048" cy="384048"/>
          </a:xfrm>
          <a:prstGeom prst="ellipse">
            <a:avLst/>
          </a:prstGeom>
          <a:solidFill>
            <a:srgbClr val="FF8382"/>
          </a:solidFill>
          <a:ln w="12700">
            <a:solidFill>
              <a:srgbClr val="FF83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3446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83446" y="2432304"/>
            <a:ext cx="20368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Vinboo Private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83446" y="3108960"/>
            <a:ext cx="20368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encryption. The strongest differentiator, and the one no competitor offers.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5120640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Commercially, the gap is smaller: no payment processing, subscription management or password recovery exists yet. All are prerequisites to charging anyone, and none are hard.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Vinboo Private: the same relay, carrying sealed boxes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NOT YET BUILT — this is the architecture for the Private tier, not the system running today.</a:t>
            </a:r>
            <a:endParaRPr lang="en-US" sz="1250" dirty="0"/>
          </a:p>
        </p:txBody>
      </p:sp>
      <p:pic>
        <p:nvPicPr>
          <p:cNvPr id="4" name="Image 0" descr="/private/tmp/claude-501/-Volumes-SuperDrive-DEV-SPACE-Slideshow/f18f3f9b-0f39-440a-8984-8ec7b618ab34/scratchpad/deck/e2ee-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140" y="1280160"/>
            <a:ext cx="95612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buys — and what it costs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is written down in full, including the parts that do not flatter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23488" cy="2697480"/>
          </a:xfrm>
          <a:prstGeom prst="roundRect">
            <a:avLst>
              <a:gd name="adj" fmla="val 4068"/>
            </a:avLst>
          </a:prstGeom>
          <a:solidFill>
            <a:srgbClr val="E4F8FB"/>
          </a:solidFill>
          <a:ln w="12700">
            <a:solidFill>
              <a:srgbClr val="E4F8FB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865376"/>
            <a:ext cx="2938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server cannot see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536" y="2359152"/>
            <a:ext cx="2938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pictures and the deck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names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 of the show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breach or subpoena yields ciphertext and timings — no images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9016" y="1627632"/>
            <a:ext cx="3523488" cy="2697480"/>
          </a:xfrm>
          <a:prstGeom prst="roundRect">
            <a:avLst>
              <a:gd name="adj" fmla="val 4068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1624" y="1865376"/>
            <a:ext cx="2938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3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still learns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1624" y="2359152"/>
            <a:ext cx="2938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you are presenting, and when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screens, and for how long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slides, and the size of each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and time, not content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71104" y="1627632"/>
            <a:ext cx="3523488" cy="2697480"/>
          </a:xfrm>
          <a:prstGeom prst="roundRect">
            <a:avLst>
              <a:gd name="adj" fmla="val 4068"/>
            </a:avLst>
          </a:prstGeom>
          <a:solidFill>
            <a:srgbClr val="FFEDEC"/>
          </a:solidFill>
          <a:ln w="12700">
            <a:solidFill>
              <a:srgbClr val="FFEDE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3712" y="1865376"/>
            <a:ext cx="2938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limit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63712" y="2359152"/>
            <a:ext cx="2938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runs code Vinboo serves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compromised operator could ship JavaScript that copies the key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narrows what a breach exposes; it does not remove trust in the page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the link and the show is gone, by design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5074920"/>
            <a:ext cx="1102766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" y="5230368"/>
            <a:ext cx="10296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tension that used to sit here has gone. Encryption and server-side conversion are mutually exclusive — a server cannot convert a deck it cannot read — which once meant Private would cost exact fidelity. Rendering now happens in the browser, so encryption costs the deck nothing.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we take most seriously, and what each would take to answer.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27664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77393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wants the feature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995928" y="177393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retired Present Live for low usage — the closest analogue, with a billion-seat channel.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882128" y="1773936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Re-pitch on control, not participation. Validate with real sales professionals before building further.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11027664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" y="27614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fidelity blocked the business tier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995928" y="276148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did: 37% of one enterprise deck rendered as placeholders.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82128" y="276148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Answered. 98% of slides across 32 real decks, measured, in the browser.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602736"/>
            <a:ext cx="11027664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9536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will not scale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995928" y="37490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 is in one process; a hard ceiling of 200 concurrent shows, breached by the Year 3 model.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82128" y="374904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by show code. Days of work, not a rewrite. Documented in full.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590288"/>
            <a:ext cx="11027664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6E1DC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9536" y="47365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proven acquisition channel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95928" y="473659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has no data on how customers are reached, and this is the weakest part of it.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82128" y="473659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vendors first: one DJ serves forty weddings a year where a couple serves one.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598932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the risk.   Centre: the evidence against us.   Right: the answer.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200" b="1" dirty="0">
                <a:solidFill>
                  <a:srgbClr val="F4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product, a costed roadmap,</a:t>
            </a:r>
            <a:endParaRPr lang="en-US" sz="3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200" b="1" dirty="0">
                <a:solidFill>
                  <a:srgbClr val="F4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moat that is architectural.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246120"/>
            <a:ext cx="3523488" cy="1600200"/>
          </a:xfrm>
          <a:prstGeom prst="roundRect">
            <a:avLst>
              <a:gd name="adj" fmla="val 6857"/>
            </a:avLst>
          </a:prstGeom>
          <a:solidFill>
            <a:srgbClr val="1C1830"/>
          </a:solidFill>
          <a:ln w="12700">
            <a:solidFill>
              <a:srgbClr val="2E2748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86968" y="3456432"/>
            <a:ext cx="2883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8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$1.53M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86968" y="4242816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Year 5 revenue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19016" y="3246120"/>
            <a:ext cx="3523488" cy="1600200"/>
          </a:xfrm>
          <a:prstGeom prst="roundRect">
            <a:avLst>
              <a:gd name="adj" fmla="val 6857"/>
            </a:avLst>
          </a:prstGeom>
          <a:solidFill>
            <a:srgbClr val="1C1830"/>
          </a:solidFill>
          <a:ln w="12700">
            <a:solidFill>
              <a:srgbClr val="2E2748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39056" y="3456432"/>
            <a:ext cx="2883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51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639056" y="4242816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Pennsylvania employees by Year 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71104" y="3246120"/>
            <a:ext cx="3523488" cy="1600200"/>
          </a:xfrm>
          <a:prstGeom prst="roundRect">
            <a:avLst>
              <a:gd name="adj" fmla="val 6857"/>
            </a:avLst>
          </a:prstGeom>
          <a:solidFill>
            <a:srgbClr val="1C1830"/>
          </a:solidFill>
          <a:ln w="12700">
            <a:solidFill>
              <a:srgbClr val="2E2748"/>
            </a:solidFill>
            <a:prstDash val="solid"/>
          </a:ln>
          <a:effectLst>
            <a:outerShdw sx="100000" sy="100000" kx="0" ky="0" algn="bl" rotWithShape="0" blurRad="127000" dist="25400" dir="5400000">
              <a:srgbClr val="2A244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91144" y="3456432"/>
            <a:ext cx="2883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DC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391144" y="4242816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milestones to get there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5166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capital does not buy an idea. It buys the four things standing between a product that works and a product that sells.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5897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vinboo.com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the architecture as built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7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and running today. The encrypted design overleaf changes only what the server is able to read.</a:t>
            </a:r>
            <a:endParaRPr lang="en-US" sz="1200" dirty="0"/>
          </a:p>
        </p:txBody>
      </p:sp>
      <p:pic>
        <p:nvPicPr>
          <p:cNvPr id="4" name="Image 0" descr="/private/tmp/claude-501/-Volumes-SuperDrive-DEV-SPACE-Slideshow/f18f3f9b-0f39-440a-8984-8ec7b618ab34/scratchpad/deck/arch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3466" y="1143000"/>
            <a:ext cx="6454588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Vinboo Private, in full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architecture for the end-to-end encrypted tier. Designed, not yet built.</a:t>
            </a:r>
            <a:endParaRPr lang="en-US" sz="1200" dirty="0"/>
          </a:p>
        </p:txBody>
      </p:sp>
      <p:pic>
        <p:nvPicPr>
          <p:cNvPr id="4" name="Image 0" descr="/private/tmp/claude-501/-Volumes-SuperDrive-DEV-SPACE-Slideshow/f18f3f9b-0f39-440a-8984-8ec7b618ab34/scratchpad/deck/e2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999" y="1143000"/>
            <a:ext cx="6255521" cy="5577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Vinboo — Investor Overview</dc:title>
  <dc:subject>PptxGenJS Presentation</dc:subject>
  <dc:creator>Vinboo</dc:creator>
  <cp:lastModifiedBy>Vinboo</cp:lastModifiedBy>
  <cp:revision>1</cp:revision>
  <dcterms:created xsi:type="dcterms:W3CDTF">2026-08-20T20:37:44Z</dcterms:created>
  <dcterms:modified xsi:type="dcterms:W3CDTF">2026-08-20T20:37:44Z</dcterms:modified>
</cp:coreProperties>
</file>